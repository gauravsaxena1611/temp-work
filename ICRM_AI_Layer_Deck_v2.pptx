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line: ICRM has the data and the apps; what we lack is one place to ask across all of it, safely. That's what this is. Set tone: a build-once, govern-once platform for the whole portfolio — not another chatbot. Keep it to 20 seconds and move to the cost of doing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in business terms, not technical gaps. The thread through all four: the same work, repeated. Land the last point — siloed risk — because it sets up why a connected layer matters. Don't dwell; 60–90 seconds. Avoid quoting hard numbers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industry/firm reasons, then the kicker: CIA work is happening now. The last row is the bridge to the urgency slide. Emphasize 'in production at Citi today' so nobody thinks this is speculative.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Make-or-break, placed early on purpose. The instinctive objection is 'why a central thing instead of letting each app build its own?' Answer: domain-awareness, shared governance, and cross-app reach — none of which a per-app chatbot gives you — built once instead of N times. The platform is self-contained with its own Citi-standard UI. If they believe one thing: not a pile of separate chatbots.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the user reaches the platform's own Citi-standard UI, which sits over the orchestration/governance and MCP layers — all built by ICRM — over data that stays where it is. Stress the arrows are two-way: queries down, governed answers up. Purple = we build; gray =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may be your most persuasive slide. CIA is integrating Elastic MCP + CRC right now. Path A: stays CIA-only, every future app repeats the work. Path B: generalize the same build into a platform. Real urgency — retrofitting reusability later costs far more than designing it in now. Reassure: a separate workstream so CIA's own delivery isn't disrupted.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math, so it's unassailable. Five apps: ten point-to-point links versus five hub links. The real punch is growth — square vs straight line. Say: we're choosing which curve ICRM rides as it scales. Keep dollars off this slide; the ratio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Policy↔MCA example — it's the clearest 'impossible before.' Old integration was one-way (Policy consumed MCA, never the reverse). Through the hub, both directions work. Be precise: MCP reduces AI-integration effort and is a layer on top of APIs — don't oversell it as replacing all integration, or the architects discount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 platforms already ship MCP servers — premise is solid. The honest, defensible move for analytics: governed query templates and data products, not free-form text-to-SQL (which is unreliable on real enterprise schemas). That choice is what gets it past risk review. Frame free-form 'ask anything' as later-phase, human-verified.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human. Sarah does a multi-system slog today; with the layer it's one flow where she still reviews and approves before anything is sent. Be honest: the ~30 minutes INCLUDES her review — not a magic 5-minute claim — and the numbers are illustrative until the pilot measures them. The human-in-the-loop is the point, not speed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messages. One: this measures four normal quadrants AND a fifth most decks skip — whether answers are actually correct (the quality quadrant). Two: every target is a hypothesis measured against a pilot baseline, expressed as ratios, never invented dollar figures. The purple quadrant is also your model-risk evidence. Don't read every metric; point to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governance from defensive to offensive. The bot holds no data; it checks the user's entitlements (existing CRC service) and acts on their behalf; every step hits the audit ledger (existing EEMS audit). This is both the security answer and the model-risk evidence. Punchline: a central platform is the only way GenAI here passes model-risk review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deny the risks — show the controls moving them down-left. Call out that prompt injection is the industry's #1 LLM risk and that we treat all retrieved data as untrusted. The arrows are the message: we're not listing scary risks, we're showing mitigations working. Mention model-risk validation and the single-point-of-failure/concentration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Crawl-walk-run. Phase 1 is not greenfield — it generalizes the CIA build that's already happening, retrieval-only, as a separate workstream so CIA ships on time. The check-circles are gates: we don't widen scope or grant the bot more autonomy until quality metrics and model-risk sign-off are met. Retrieval → assist → act, earning trust before expanding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a summary. The ask is small and safe: a retrieval-only pilot that generalizes work already in flight. Then land the three things you want them to remember — the eureka trio. End by inviting the decision: approve the pilot. Stop talking after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 your back pocket for Q&amp;A. These are the honest unknowns. The two that decide credibility: N (the app count) and the scaffolding share — pull both from real records before the meeting. Ownership/funding is what a delivery-minded director will test hardest; have a crisp answer for who staffs the generalization workstream.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1922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744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CENTRALIZED AI 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ICRM anything — safely.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ICRM-specific conversational AI, orchestration, MCP and governance platform — built once for the whole ICRM portfolio.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ICRM leadership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status quo costs us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737360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188823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16093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build cost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36192" y="19385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ICRM app rebuilds the same foundation — integration, entitlements, MCP, UI, hosting, model-risk sign-off.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537960" y="14630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57416" y="1737360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2" y="188823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25512" y="16093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integrations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25512" y="19385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links mean every new data need triggers a full build-test-deploy cycle and a growing backlog.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944368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218688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33695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30906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Locked-up data value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36192" y="341985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spend on Elastic and Starburst stays trapped behind technical barriers; users wait on IT and analyst queues.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537960" y="2944368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57416" y="3218688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292" y="33695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25512" y="30906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reactive risk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525512" y="341985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a policy to its controls, assessments and open issues means manual cross-referencing across systems.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the cost of inaction — not as sourced external statistics.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is now — for real reasons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664208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013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6093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is moving into production firm-wide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19385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whether, but how it's governed and where ICRM-specific value is added.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587752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7889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926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27340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firm-wide efficiency mandate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81328" y="30632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more with less rewards a shared service that eliminates duplicated effort across teams.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1246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91363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0507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858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treated as a strategic asset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81328" y="41879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layer turns Elastic and Starburst from repositories into self-service intelligence.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837176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AF6F2"/>
          </a:solidFill>
          <a:ln w="1905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8096" y="5038344"/>
            <a:ext cx="548640" cy="54864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7550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49834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in flight for CIA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481328" y="53126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being poured right now — the cheapest moment to make it reusable instead of app-private.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— not a chatbot per app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proposing another chatbot. On today's path, every ICRM app eventually builds its own — we build it once, for the whole portfolio.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221992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37286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2276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per app (today's path)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17904" y="2624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 trajectory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3108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rebuilds UI, integrations, agentic flows, governance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cross-app reach — siloed, app-by-app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separate governance and model-risk surfaces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5508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AF6F2"/>
          </a:solidFill>
          <a:ln w="1905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92824" y="2221992"/>
            <a:ext cx="603504" cy="603504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372868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24344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ICRM platform (this proposal)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324344" y="2679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ICRM-owned, self-contained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75120" y="31546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Domain-aware: knows a RegW control links to a CRA assessment links to an iCAPS issue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reach + one consistent governance regime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Citi-standard UI — not dependent on any other product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PICTURE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layer, slotting in where it belongs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93776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A4575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user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801368"/>
            <a:ext cx="0" cy="2560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2121408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34640" y="22311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conversational UI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834640" y="2542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Citi-standard · ICRM-owned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2912364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60320" y="3108960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34640" y="321868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orchestration &amp; governance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834640" y="35295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· audit · model-risk · ARC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3899916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560320" y="4096512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834640" y="42062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abstraction layer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834640" y="45171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server per application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0760" y="4887468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560320" y="5084064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834640" y="51937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systems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834640" y="55046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services · Elastic · Starburst · iCAPS · app DBs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27432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32004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A4FB3"/>
          </a:solidFill>
          <a:ln/>
        </p:spPr>
      </p:sp>
      <p:sp>
        <p:nvSpPr>
          <p:cNvPr id="27" name="Text 24"/>
          <p:cNvSpPr/>
          <p:nvPr/>
        </p:nvSpPr>
        <p:spPr>
          <a:xfrm>
            <a:off x="1024128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ICRM builds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36118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C7CEE6"/>
          </a:solidFill>
          <a:ln/>
        </p:spPr>
      </p:sp>
      <p:sp>
        <p:nvSpPr>
          <p:cNvPr id="29" name="Text 26"/>
          <p:cNvSpPr/>
          <p:nvPr/>
        </p:nvSpPr>
        <p:spPr>
          <a:xfrm>
            <a:off x="1024128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 is being built today — which road?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already being poured. The only decision is whether we pour it once — or N times.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761488"/>
            <a:ext cx="2743200" cy="1152144"/>
          </a:xfrm>
          <a:prstGeom prst="roundRect">
            <a:avLst>
              <a:gd name="adj" fmla="val 7143"/>
            </a:avLst>
          </a:prstGeom>
          <a:solidFill>
            <a:srgbClr val="EEF3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30540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19582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9616" y="30175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build — today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99616" y="3310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MCP + CRC APIs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 flipV="1">
            <a:off x="3429000" y="2331720"/>
            <a:ext cx="1371600" cy="914400"/>
          </a:xfrm>
          <a:prstGeom prst="line">
            <a:avLst/>
          </a:prstGeom>
          <a:noFill/>
          <a:ln w="31750">
            <a:solidFill>
              <a:srgbClr val="DD6B4D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29000" y="3520440"/>
            <a:ext cx="1371600" cy="914400"/>
          </a:xfrm>
          <a:prstGeom prst="line">
            <a:avLst/>
          </a:prstGeom>
          <a:noFill/>
          <a:ln w="31750">
            <a:solidFill>
              <a:srgbClr val="0E9E8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937760" y="1874520"/>
            <a:ext cx="3200400" cy="1078992"/>
          </a:xfrm>
          <a:prstGeom prst="roundRect">
            <a:avLst>
              <a:gd name="adj" fmla="val 7627"/>
            </a:avLst>
          </a:prstGeom>
          <a:solidFill>
            <a:srgbClr val="F6E2DC"/>
          </a:solidFill>
          <a:ln w="15875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12064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CIA-only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rebuilds the same base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83880" y="2414016"/>
            <a:ext cx="502920" cy="0"/>
          </a:xfrm>
          <a:prstGeom prst="line">
            <a:avLst/>
          </a:prstGeom>
          <a:noFill/>
          <a:ln w="31750">
            <a:solidFill>
              <a:srgbClr val="DD6B4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732520" y="1874520"/>
            <a:ext cx="2880360" cy="1078992"/>
          </a:xfrm>
          <a:prstGeom prst="roundRect">
            <a:avLst>
              <a:gd name="adj" fmla="val 762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86968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× 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86968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· RegW · Policy · MCA…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732520" y="2980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D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 &amp; risk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937760" y="3886200"/>
            <a:ext cx="3200400" cy="1078992"/>
          </a:xfrm>
          <a:prstGeom prst="roundRect">
            <a:avLst>
              <a:gd name="adj" fmla="val 7627"/>
            </a:avLst>
          </a:prstGeom>
          <a:solidFill>
            <a:srgbClr val="E0F1EC"/>
          </a:solidFill>
          <a:ln w="15875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12064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generalize now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12064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every app reuses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4425696"/>
            <a:ext cx="502920" cy="0"/>
          </a:xfrm>
          <a:prstGeom prst="line">
            <a:avLst/>
          </a:prstGeom>
          <a:noFill/>
          <a:ln w="31750">
            <a:solidFill>
              <a:srgbClr val="0E9E84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732520" y="3886200"/>
            <a:ext cx="2880360" cy="1078992"/>
          </a:xfrm>
          <a:prstGeom prst="roundRect">
            <a:avLst>
              <a:gd name="adj" fmla="val 762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86968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platform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886968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reuse the foundation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732520" y="49926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governed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shifts from “fund a new program” to “let work we're already paying for be reused.”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· COST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not N times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integration grows with the square of the app count. A hub grows in a straight line.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017520" y="2423160"/>
            <a:ext cx="1087058" cy="789794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17520" y="2423160"/>
            <a:ext cx="671839" cy="2067706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2345681" y="2423160"/>
            <a:ext cx="671839" cy="2067706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930462" y="2423160"/>
            <a:ext cx="1087058" cy="789794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3689359" y="3212954"/>
            <a:ext cx="415219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2345681" y="3212954"/>
            <a:ext cx="1758896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 flipV="1">
            <a:off x="1930462" y="3212954"/>
            <a:ext cx="2174115" cy="0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2345681" y="4490866"/>
            <a:ext cx="1343677" cy="0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 flipV="1">
            <a:off x="1930462" y="3212954"/>
            <a:ext cx="1758896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 flipV="1">
            <a:off x="1930462" y="3212954"/>
            <a:ext cx="415219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9052560" y="2423160"/>
            <a:ext cx="0" cy="1143000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9052560" y="3212954"/>
            <a:ext cx="1087058" cy="3532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3566160"/>
            <a:ext cx="671839" cy="9247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8380721" y="3566160"/>
            <a:ext cx="671839" cy="9247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 flipV="1">
            <a:off x="7965502" y="3212954"/>
            <a:ext cx="1087058" cy="3532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33472" y="2240280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33472" y="22402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20530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20530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05311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05311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961633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61633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546414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46414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RegW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668512" y="2240280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68512" y="22402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755570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755570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340351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40351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996673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96673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581454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1454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RegW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549640" y="3200400"/>
            <a:ext cx="1005840" cy="73152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54964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4630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point-to-point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4980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central hub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2240280" y="5074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D6B4D"/>
          </a:solidFill>
          <a:ln/>
        </p:spPr>
      </p:sp>
      <p:sp>
        <p:nvSpPr>
          <p:cNvPr id="47" name="Text 44"/>
          <p:cNvSpPr/>
          <p:nvPr/>
        </p:nvSpPr>
        <p:spPr>
          <a:xfrm>
            <a:off x="2240280" y="5074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links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275320" y="5074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49" name="Text 46"/>
          <p:cNvSpPr/>
          <p:nvPr/>
        </p:nvSpPr>
        <p:spPr>
          <a:xfrm>
            <a:off x="8275320" y="5074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links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apps → ~4× the point-to-point links, but only ~2× the hub links.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 · INTEGRATION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interoperability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MCP server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240280"/>
            <a:ext cx="1463040" cy="109728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2240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228600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app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3816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MCP server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2788920"/>
            <a:ext cx="1691640" cy="0"/>
          </a:xfrm>
          <a:prstGeom prst="line">
            <a:avLst/>
          </a:prstGeom>
          <a:noFill/>
          <a:ln w="31750">
            <a:solidFill>
              <a:srgbClr val="3A4575"/>
            </a:solidFill>
            <a:prstDash val="solid"/>
            <a:headEnd type="triangl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46520" y="2788920"/>
            <a:ext cx="1691640" cy="0"/>
          </a:xfrm>
          <a:prstGeom prst="line">
            <a:avLst/>
          </a:prstGeom>
          <a:noFill/>
          <a:ln w="31750">
            <a:solidFill>
              <a:srgbClr val="3A4575"/>
            </a:solidFill>
            <a:prstDash val="solid"/>
            <a:headEnd type="triangl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200400" y="3429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query each other — impossible with one-way hard integration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09194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→ M+N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663440" y="394106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protocol once per app and once per model — not a custom build for every pairing.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78688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4636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discovery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663440" y="46360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 read MCA and MCA can read Policy through the hub; old hard integration was one-way only.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481828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5330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on top, not a rip-and-replace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663440" y="53309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sits over existing APIs; it doesn't replace the integration platform or the underlying data work.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3 &amp; 4 · DATA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 Elastic &amp; Starburst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603504" cy="603504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144268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7904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— conversational discovery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6868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Elastic MCP server + Agent Builder (GA)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 across policies, issues, documents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cross-system queries under one governed entry point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55080" y="173736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92824" y="1993392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144268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24344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Starburst — conversational analytics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67512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MCP server, read-only, runs under caller identity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governed data products &amp; approved query templates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text-to-SQL is unreliable — so it's phased, human-verified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comes from governed, pre-validated queries — not from asking the database anything in plain English.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Sarah's investigation — before &amp; after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today, manual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98648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182112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82112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iCAPS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40680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724144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24144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82712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266176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66176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memo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206240" y="260604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DD6B4D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2606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half a morning, 3 systems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conversational flow, human-verified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bot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898648" y="406908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182112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182112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40680" y="406908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724144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24144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send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926080" y="457200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30" name="Text 27"/>
          <p:cNvSpPr/>
          <p:nvPr/>
        </p:nvSpPr>
        <p:spPr>
          <a:xfrm>
            <a:off x="2926080" y="45720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30 minutes (incl. review)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bot-drafts → human reviews &amp; verifies → human approves. Times are illustrative — measured in the pilot.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balanced scorecard — measured, not asserted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productivity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time-to-info · reporting · ramp-up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37960" y="1463040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93992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(ratios, not $)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79399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build-once multiplier · combinatorics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" y="2980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 · fewer errors · by-design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2816352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93992" y="2980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793992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 · retention · % accepted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261104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535424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5A4FB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53542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83080" y="4389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reliability — the missing quadrant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783080" y="47183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groundedness · citation coverage · hallucination &amp; override rate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 is measured against a pilot baseline — no asserted numbers.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THE POINT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front door — and the proof it's safe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7C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user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127248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10712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10712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410712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CRC service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7880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181344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CEAF7"/>
          </a:solidFill>
          <a:ln w="1270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81344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81344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tools only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68512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951976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 w="12700">
            <a:solidFill>
              <a:srgbClr val="C7C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51976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951976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put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74520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645152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415784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0186416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640080" y="4023360"/>
            <a:ext cx="10725912" cy="749808"/>
          </a:xfrm>
          <a:prstGeom prst="roundRect">
            <a:avLst>
              <a:gd name="adj" fmla="val 10976"/>
            </a:avLst>
          </a:prstGeom>
          <a:solidFill>
            <a:srgbClr val="EAF6F2"/>
          </a:solidFill>
          <a:ln w="15875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" y="41513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22960" y="44622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asked what, when, and what was returned — the cross-silo trail we don't have today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holds no data — it borrows the user's own entitlements at the gate. Centralizing is the only way to govern ICRM GenAI once, instead of N times.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THOUGHT ABOUT THE RISKS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Mitigations move risks out of the red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63040" y="160020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34640" y="160020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60020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0" y="256032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56032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256032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352044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4640" y="352044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352044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↑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 flipH="1">
            <a:off x="3520440" y="1984248"/>
            <a:ext cx="1508760" cy="10561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919472" y="1874520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285750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0" name="Text 17"/>
          <p:cNvSpPr/>
          <p:nvPr/>
        </p:nvSpPr>
        <p:spPr>
          <a:xfrm>
            <a:off x="3337560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 flipH="1">
            <a:off x="3520440" y="3040380"/>
            <a:ext cx="1508760" cy="96012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19472" y="2930652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381762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4" name="Text 21"/>
          <p:cNvSpPr/>
          <p:nvPr/>
        </p:nvSpPr>
        <p:spPr>
          <a:xfrm>
            <a:off x="333756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H="1">
            <a:off x="2148840" y="1984248"/>
            <a:ext cx="1371600" cy="10561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410712" y="1874520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65960" y="285750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8" name="Text 25"/>
          <p:cNvSpPr/>
          <p:nvPr/>
        </p:nvSpPr>
        <p:spPr>
          <a:xfrm>
            <a:off x="1965960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66560" y="17830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2376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237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retrieved data as untrusted; human approval for actions; red-team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766560" y="26974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4" name="Text 31"/>
          <p:cNvSpPr/>
          <p:nvPr/>
        </p:nvSpPr>
        <p:spPr>
          <a:xfrm>
            <a:off x="67665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223760" y="2679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poisoning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22376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vetted registry only; allowlisting; integrity checks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766560" y="36118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8" name="Text 35"/>
          <p:cNvSpPr/>
          <p:nvPr/>
        </p:nvSpPr>
        <p:spPr>
          <a:xfrm>
            <a:off x="67665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223760" y="3593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22376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on-behalf-of identity; least privilege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4630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= before mitigation · filled = after.  Plus: model-risk validation, concentration controls, data-readiness checks.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PATH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widens only as each gate is cleared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Pilot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the in-flight CIA build (Elastic + CRC). Retrieval only.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63924" y="2807208"/>
            <a:ext cx="512064" cy="512064"/>
          </a:xfrm>
          <a:prstGeom prst="ellipse">
            <a:avLst/>
          </a:prstGeom>
          <a:solidFill>
            <a:srgbClr val="5A4FB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364" y="2898648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3484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908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Expand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9087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7–18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9087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Starburst, 3–5 apps, 200+ users. Assist; actions need validation.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69087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A43B"/>
          </a:solidFill>
          <a:ln/>
        </p:spPr>
      </p:sp>
      <p:sp>
        <p:nvSpPr>
          <p:cNvPr id="19" name="Text 15"/>
          <p:cNvSpPr/>
          <p:nvPr/>
        </p:nvSpPr>
        <p:spPr>
          <a:xfrm>
            <a:off x="469087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758684" y="2807208"/>
            <a:ext cx="512064" cy="512064"/>
          </a:xfrm>
          <a:prstGeom prst="ellipse">
            <a:avLst/>
          </a:prstGeom>
          <a:solidFill>
            <a:srgbClr val="5A4FB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4" y="2898648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2960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48563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Scale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8563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19+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48563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onboarding; standard for new apps.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48563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9483B"/>
          </a:solidFill>
          <a:ln/>
        </p:spPr>
      </p:sp>
      <p:sp>
        <p:nvSpPr>
          <p:cNvPr id="27" name="Text 22"/>
          <p:cNvSpPr/>
          <p:nvPr/>
        </p:nvSpPr>
        <p:spPr>
          <a:xfrm>
            <a:off x="848563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5074920"/>
            <a:ext cx="10927080" cy="0"/>
          </a:xfrm>
          <a:prstGeom prst="line">
            <a:avLst/>
          </a:prstGeom>
          <a:noFill/>
          <a:ln w="25400">
            <a:solidFill>
              <a:srgbClr val="9AA3BC"/>
            </a:solidFill>
            <a:prstDash val="solid"/>
            <a:tailEnd type="triangle"/>
          </a:ln>
        </p:spPr>
      </p:sp>
      <p:sp>
        <p:nvSpPr>
          <p:cNvPr id="29" name="Text 24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= quality metrics + model-risk sign-off before scope or autonomy expands.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731520" cy="73152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tightly-scoped, retrieval-only pilot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generalizing the CIA build already underway.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86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pile of chatbots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0515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ICRM platform, built once instead of per app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805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886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vs straight line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7091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cost grows with the square of our app count; a hub doesn't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886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667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govern at scale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3667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makes ICRM GenAI pass model-risk review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 · domain-specific · generalizes the in-flight CIA build · governed by design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need to confirm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75564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928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627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 (N)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63040" y="195681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count of ICRM apps that would use this — anchors every cost ratio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537960" y="146304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57416" y="175564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8928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1627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share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52360" y="195681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common-vs-app-specific effort, from decomposing one real build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92608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21868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3558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ownership &amp; funding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63040" y="34198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platform layer vs CIA; how the generalization workstream is funded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37960" y="292608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57416" y="321868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33558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surface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52360" y="34198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platform's own Citi-standard UI; what gets MCP-wrapped vs shared CRC API client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3891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68096" y="468172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81888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5537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regimes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463040" y="488289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external rules apply (e.g. model-risk, regional AI regulation) for ICRM's jurisdictions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537960" y="43891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757416" y="468172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576" y="481888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52360" y="45537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baselines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452360" y="488289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time / quality today — the only first-party proof points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ICRM AI Layer — Business Case</dc:title>
  <dc:subject>PptxGenJS Presentation</dc:subject>
  <dc:creator>ICRM</dc:creator>
  <cp:lastModifiedBy>ICRM</cp:lastModifiedBy>
  <cp:revision>1</cp:revision>
  <dcterms:created xsi:type="dcterms:W3CDTF">2026-06-10T17:49:59Z</dcterms:created>
  <dcterms:modified xsi:type="dcterms:W3CDTF">2026-06-10T17:49:59Z</dcterms:modified>
</cp:coreProperties>
</file>